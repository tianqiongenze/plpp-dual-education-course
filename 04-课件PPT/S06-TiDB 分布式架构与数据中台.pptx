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S06 TiDB 分布式架构与数据中台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《千人千面 AI 学习平台项目实战》双元制项目课程 | LF3 | 第 6 周 | 4 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布鲁姆目标(今天你要达到)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[解] 解释 TiDB/TiKV/PD 三组件分工与 HTAP 概念</a:t>
            </a:r>
          </a:p>
          <a:p>
            <a:pPr>
              <a:defRPr sz="1600"/>
            </a:pPr>
            <a:r>
              <a:t>[应] 连接 TiDB 统计五库核心表行数并形成规模感</a:t>
            </a:r>
          </a:p>
          <a:p>
            <a:pPr>
              <a:defRPr sz="1600"/>
            </a:pPr>
            <a:r>
              <a:t>[析] 对比 TiDB(MySQL 协议)与 CRDB(PG 协议)的接入差异</a:t>
            </a:r>
          </a:p>
          <a:p>
            <a:pPr>
              <a:defRPr sz="1200" i="1"/>
            </a:pPr>
            <a:r>
              <a:t>评判标准:下课时你能做到,并讲给别人听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情境导入(真实工程)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企业情境:16 万学生数据要从单机 MySQL 迁到分布式库。DBA 只说一句'协议兼容,直接连'——真的这么简单吗?今天建立你对分布式数据库的规模感。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上节回顾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JWT 手环类比抽讲;M1 里程碑验收宣布。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六步法节律(180min)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情境导入 20' → B 计划 10' → C 决策 5'</a:t>
            </a:r>
          </a:p>
          <a:p>
            <a:pPr>
              <a:defRPr sz="1600"/>
            </a:pPr>
            <a:r>
              <a:t>D 理论精讲 35' → E 实训实施 70'</a:t>
            </a:r>
          </a:p>
          <a:p>
            <a:pPr>
              <a:defRPr sz="1600"/>
            </a:pPr>
            <a:r>
              <a:t>F 检查 15' → G 评价+费曼讲台 25'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TiDB 三组件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TiDB Server(无状态 SQL 层,MySQL 协议)/ TiKV(行存 KV)/ PD(调度+TSO)</a:t>
            </a:r>
          </a:p>
          <a:p>
            <a:pPr>
              <a:defRPr sz="1600"/>
            </a:pPr>
            <a:r>
              <a:t>扩容=加节点,数据自动再平衡——对比单机 MySQL 的天花板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PLPP 数据拓扑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五库:course_db/teaching_db/iam_db/tenant_db/agent_db(+ai_db)</a:t>
            </a:r>
          </a:p>
          <a:p>
            <a:pPr>
              <a:defRPr sz="1600"/>
            </a:pPr>
            <a:r>
              <a:t>规模感:knowledge_points 4570 万行 / resources 3828 万 / discussions 1198 万</a:t>
            </a:r>
          </a:p>
          <a:p>
            <a:pPr>
              <a:defRPr sz="1600"/>
            </a:pPr>
            <a:r>
              <a:t>TiDB NodePort 30210(MySQL 协议);CRDB 30257(PG 协议)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为什么双存储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TiDB=主库(统一数据层);CRDB=备份侧(随时切换的能力)</a:t>
            </a:r>
          </a:p>
          <a:p>
            <a:pPr>
              <a:defRPr sz="1600"/>
            </a:pPr>
            <a:r>
              <a:t>切换的前提=持续同步——下一课的主题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实训任务(70min,双师巡回)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1. 连库 — mysql 客户端/pymysql 连 10.167.2.175:30210</a:t>
            </a:r>
          </a:p>
          <a:p>
            <a:pPr>
              <a:defRPr sz="1600"/>
            </a:pPr>
            <a:r>
              <a:t>2. 2. 盘点 — SHOW DATABASES;统计五库每表行数(限 10 张核心表)</a:t>
            </a:r>
          </a:p>
          <a:p>
            <a:pPr>
              <a:defRPr sz="1600"/>
            </a:pPr>
            <a:r>
              <a:t>3. 3. 规模感卡 — 把最大三张表的行数写成'直观换算'(如 4570 万≈每中国人均一张卡)</a:t>
            </a:r>
          </a:p>
          <a:p>
            <a:pPr>
              <a:defRPr sz="1600"/>
            </a:pPr>
            <a:r>
              <a:t>4. 4. 双协议对比 — psycopg2 连 CRDB 30257,对比同库表结构差异(pg_catalog 视角)</a:t>
            </a:r>
          </a:p>
          <a:p>
            <a:pPr>
              <a:defRPr sz="1200" i="1"/>
            </a:pPr>
            <a:r>
              <a:t>纪律:只提问不代写;证据必须留存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检查清单(15min 互查)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[应] 五库行数表完整且与教师提供基准一致</a:t>
            </a:r>
          </a:p>
          <a:p>
            <a:pPr>
              <a:defRPr sz="1600"/>
            </a:pPr>
            <a:r>
              <a:t>[析] 能说出至少 1 条协议差异对同步代码的影响</a:t>
            </a:r>
          </a:p>
          <a:p>
            <a:pPr>
              <a:defRPr sz="1600"/>
            </a:pPr>
            <a:r>
              <a:t>[解] 三组件分工口头过关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费曼讲台(15min)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讲题:用'图书馆总馆-书库-调度中心'类比 TiDB 三组件,讲给外行。</a:t>
            </a:r>
          </a:p>
          <a:p>
            <a:pPr>
              <a:defRPr sz="1600"/>
            </a:pPr>
            <a:r>
              <a:t>白纸讲授 6' → 追问 4' → 类比压缩 3'</a:t>
            </a:r>
          </a:p>
          <a:p>
            <a:pPr>
              <a:defRPr sz="1600"/>
            </a:pPr>
            <a:r>
              <a:t>讲不清=没学会;卡壳处就是回炉点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费曼卡#6:三组件类比卡</a:t>
            </a:r>
          </a:p>
          <a:p>
            <a:pPr>
              <a:defRPr sz="1600"/>
            </a:pPr>
            <a:r>
              <a:t>行数表补'直观换算'列</a:t>
            </a:r>
          </a:p>
          <a:p>
            <a:pPr>
              <a:defRPr sz="1600"/>
            </a:pPr>
            <a:r>
              <a:t>评分点:行数表准确性(50%)+协议差异分析(30%)+类比质量(20%)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